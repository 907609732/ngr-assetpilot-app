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本次我们要讲解的是NGRAI辅助UI切图命名工具中，UI切图检测的使用教程。这一功能可以帮我们在提交切图资源前，快速排查格式、尺寸等常见问题，帮大家提前规避提交出错的风险。接下来我们就从使用场景到完整操作流程，一步步拆解这个功能的用法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切图检测的核心作用，是把问题拦截在资源提交拼接环节之前。开发者提前发现错误返回设计工具修正，能避免后期拼接完成后再返工，大幅降低协作成本，提升整个项目的推进效率。
切图检测覆盖四大核心检查方向。第一核查资源格式，确保输出结果匹配项目要求，比如NGR项目仅允许PNG格式切图。第二核查尺寸规范，拦截单数尺寸、超出阈值的大图，以及不符合标准的图标尺寸。第三标记警告项，识别合规但不推荐的资源，提醒开发者提交前人工确认。第四开启重复检测，可辅助识别疑似重复或高度相似的冗余资源，减少项目资源包的无效体积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整个切图检测工具的页面布局设计遵循操作流程逻辑，划分为三大核心区域，完全贴合用户的使用习惯。
页面顶部集中放置检测模式和重复检测开关两项核心设置，用户可一次性完成检测规则确认，无需反复跳转设置页面。
页面中部承担资源上传功能，同时支持拖拽整文件夹上传和单张图片补充上传，适配批量检测和增量修正两种场景，操作灵活度拉满。
检测完成后全部问题和警告会统一展示在页面下方列表，用户可以直接浏览所有检测结果，无需切换页面查看，整体流程一气呵成。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开始检测前，我们需要先确认两个核心设置，分别是匹配资源类型的检测模式，以及重复检测的灵敏度。
系统提供三类预设检测模式，适配不同类型的切图资源。第一类针对通用NGR项目切图，覆盖PNG格式要求、双数尺寸校验、大图规则检测三大核心规则；</a:t>
            </a:r>
            <a:endParaRPr lang="en-US"/>
          </a:p>
          <a:p>
            <a:r>
              <a:rPr lang="en-US"/>
              <a:t>第二类适配策划自定义规范的项目，主要核对切图尺寸是否符合提前配置的资源要求；</a:t>
            </a:r>
            <a:endParaRPr lang="en-US"/>
          </a:p>
          <a:p>
            <a:r>
              <a:rPr lang="en-US"/>
              <a:t>第三类专门针对图标资源，校验切图是否满足正方形要求和统一标准尺寸。
重复检测模块可根据需求调整，关闭检测能获得最快的检测速度，开启后选择低、中、高三个档位，灵敏度会逐级提升，对相似资源的识别更严格。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文件上传完成后，工具会自动完成检测，并生成可视化的结果列表。列表清晰展示切图预览、实际尺寸、问题提示和警告提示四类信息，你无需额外整理就能获取核心信息。
检测结果需遵循优先级排序处理，优先锁定问题图片，这类切图不符合项目基础规范，必须重新切图、调整尺寸或者修改格式，否则会影响后续拼接工作。
其次处理警告图片，这类切图符合基础要求但存在优化空间，你需要结合项目要求判断是否调整。最后核验疑似重复资源，工具仅提供辅助标记，最终是否重复需要你人工对比确认。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实际操作中，很多新手会疑惑为什么自己的切图被标记问题或警告，这种情况不需要翻找项目文档，直接点击页面的“查看检测规范”按钮，就能展开当前检测模式对应的完整规则说明，清晰解释标记原因。
工具内置五类核心规则，覆盖切图交付的全部关键要求。包含PNG格式的硬性要求，UI开发必需的双数尺寸标准，超过2048像素的大图警告阈值，图标类资源的标准尺寸规范，以及疑似重复资源的判定逻辑。
借助内置的规则说明，能减少跨岗位沟通成本，帮助你快速理解问题根源，精准调整切图，不用反复询问项目负责人，提升自检效率。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检测完成生成结果后，一次上传的切图资源往往会混合正常图片、问题图片和警告图片。全部罗列展示会增加筛选成本，打乱处理节奏，工具提供两个精准筛选按钮帮我们梳理问题。
我们可以优先点击「只看问题图片」，集中处理必须调整的资源，一次性完成改格式、调尺寸这类核心修正工作，避免反复切换消耗精力。
处理完所有问题后，再点击「只看警告图片」，统一核对这些允许但不推荐的资源，对照项目要求判断是否需要优化。这种分层处理的逻辑，能大幅提升切图的检查修正效率，避免遗漏问题。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所有检测提示均为风险预警，并非最终判定标准，资源提交的最终要求，仍以项目规范与对接负责人要求为准。
遇到非PNG格式的错误提示，直接回到设计工具重新导出为PNG格式即可解决。分辨率出现单数错误，调整画布宽高为双数重新导出，避免渲染错位问题。单边尺寸超出项目上限，拆分大切图或重新规划切图尺寸就能修复。
黄色警告标识的资源符合基础规则但不推荐使用，对照项目要求判断是否需要优化。标记为疑似重复的资源，工具仅做相似性初筛，需要人工对比内容差异，最终确认是否保留。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梳理完整操作流程，帮助普通用户避开大部分操作疏漏，保证每一次检测都完整覆盖风险点。
第一步从主界面点击UI切图检测入口，直接进入检测页面。
第二步确认检测模式，核对适配项目组要求的规范，同时设置重复检测的敏感度。
第三步直接上传本地资源文件夹，工具自动完成检测生成结果。
第四步使用筛选功能分类查看问题和警告，逐一记录需要调整的图片。
第五步处理完当前批次后，清空检测列表即可开始下一批检测，清空操作仅清除页面记录，不会修改或删除本地原图。这套流程符合常规作业逻辑，能帮大家稳定高效完成提交前检查。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要明确工具的核心定位，UI切图检测仅承担风险预警作用，不会修改本地图片文件，所有调整修正操作都需要设计者自行完成。
这份交付前检查清单，是给你的最后一道把关。
第一项核对检测模式，确认你选用的检测规范和当前提交的资源类型匹配，避免规则不符导致错误检测。第二项确认所有标记为「问题」的图片都完成修正，从根源消除格式尺寸层面的硬错误。第三项确认所有警告项都符合项目要求，不需要额外优化。第四项完成疑似重复资源的人工复核，确认无需清理冗余资源。
走完这四项检查，你就可以放心提交切图资源，基本不会再出基础问题。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533400" y="552450"/>
            <a:ext cx="1257300" cy="323850"/>
          </a:xfrm>
          <a:prstGeom prst="roundRect">
            <a:avLst>
              <a:gd name="adj" fmla="val 29412"/>
            </a:avLst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教程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428750"/>
            <a:ext cx="5143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17232B"/>
                </a:solidFill>
              </a:defRPr>
            </a:pPr>
            <a:r>
              <a:rPr sz="4800" b="1">
                <a:solidFill>
                  <a:srgbClr val="17232B"/>
                </a:solidFill>
              </a:rPr>
              <a:t>UI切图检测</a:t>
            </a:r>
            <a:endParaRPr sz="4800" b="1">
              <a:solidFill>
                <a:srgbClr val="17232B"/>
              </a:solidFill>
            </a:endParaRPr>
          </a:p>
          <a:p>
            <a:pPr algn="l">
              <a:defRPr sz="4800" b="1">
                <a:solidFill>
                  <a:srgbClr val="17232B"/>
                </a:solidFill>
              </a:defRPr>
            </a:pPr>
            <a:r>
              <a:rPr sz="4800" b="1">
                <a:solidFill>
                  <a:srgbClr val="17232B"/>
                </a:solidFill>
              </a:rPr>
              <a:t>功能介绍</a:t>
            </a:r>
            <a:endParaRPr sz="4800" b="1">
              <a:solidFill>
                <a:srgbClr val="17232B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348615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5E6B73"/>
                </a:solidFill>
              </a:defRPr>
            </a:pPr>
            <a:r>
              <a:rPr sz="1950" b="0">
                <a:solidFill>
                  <a:srgbClr val="5E6B73"/>
                </a:solidFill>
              </a:rPr>
              <a:t>提交资源前，快速检查格式、尺寸、警告项和疑似重复资源。</a:t>
            </a:r>
            <a:endParaRPr sz="1950" b="0">
              <a:solidFill>
                <a:srgbClr val="5E6B7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4552950"/>
            <a:ext cx="3619500" cy="19050"/>
          </a:xfrm>
          <a:prstGeom prst="rect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48577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3"/>
                </a:solidFill>
              </a:defRPr>
            </a:pPr>
            <a:r>
              <a:rPr sz="1350" b="0">
                <a:solidFill>
                  <a:srgbClr val="5E6B73"/>
                </a:solidFill>
              </a:rPr>
              <a:t>适用版本 V2.18</a:t>
            </a:r>
            <a:endParaRPr sz="1350" b="0">
              <a:solidFill>
                <a:srgbClr val="5E6B73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343650" y="685800"/>
            <a:ext cx="5143500" cy="5143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18750" r="18750"/>
          <a:stretch>
            <a:fillRect/>
          </a:stretch>
        </p:blipFill>
        <p:spPr>
          <a:xfrm>
            <a:off x="6438900" y="781050"/>
            <a:ext cx="4953000" cy="4953000"/>
          </a:xfrm>
          <a:prstGeom prst="roundRect">
            <a:avLst>
              <a:gd name="adj" fmla="val 1923"/>
            </a:avLst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01</a:t>
            </a:r>
            <a:endParaRPr sz="1200" b="1">
              <a:solidFill>
                <a:srgbClr val="87939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32B"/>
                </a:solidFill>
              </a:defRPr>
            </a:pPr>
            <a:r>
              <a:rPr sz="3300" b="1">
                <a:solidFill>
                  <a:srgbClr val="17232B"/>
                </a:solidFill>
              </a:rPr>
              <a:t>什么时候用切图检测？</a:t>
            </a:r>
            <a:endParaRPr sz="3300" b="1">
              <a:solidFill>
                <a:srgbClr val="17232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B73"/>
                </a:solidFill>
              </a:defRPr>
            </a:pPr>
            <a:r>
              <a:rPr sz="1500" b="0">
                <a:solidFill>
                  <a:srgbClr val="5E6B73"/>
                </a:solidFill>
              </a:rPr>
              <a:t>在</a:t>
            </a:r>
            <a:r>
              <a:rPr lang="en-US" sz="1500" b="0">
                <a:solidFill>
                  <a:srgbClr val="5E6B73"/>
                </a:solidFill>
              </a:rPr>
              <a:t>UI</a:t>
            </a:r>
            <a:r>
              <a:rPr lang="zh-CN" altLang="en-US" sz="1500" b="0">
                <a:solidFill>
                  <a:srgbClr val="5E6B73"/>
                </a:solidFill>
              </a:rPr>
              <a:t>切图</a:t>
            </a:r>
            <a:r>
              <a:rPr sz="1500" b="0">
                <a:solidFill>
                  <a:srgbClr val="5E6B73"/>
                </a:solidFill>
              </a:rPr>
              <a:t>资源提交</a:t>
            </a:r>
            <a:r>
              <a:rPr lang="zh-CN" sz="1500" b="0">
                <a:solidFill>
                  <a:srgbClr val="5E6B73"/>
                </a:solidFill>
              </a:rPr>
              <a:t>给拼接</a:t>
            </a:r>
            <a:r>
              <a:rPr sz="1500" b="0">
                <a:solidFill>
                  <a:srgbClr val="5E6B73"/>
                </a:solidFill>
              </a:rPr>
              <a:t>前做一次检查，先发现问题，再回到设计工具修正。</a:t>
            </a:r>
            <a:endParaRPr sz="1500" b="0">
              <a:solidFill>
                <a:srgbClr val="5E6B73"/>
              </a:solidFill>
            </a:endParaRPr>
          </a:p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723900" y="1943100"/>
            <a:ext cx="361950" cy="361950"/>
          </a:xfrm>
          <a:prstGeom prst="ellipse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19240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格式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2228850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检查是否符合项目要求，例如 NGR 只允许 PNG。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723900" y="2667000"/>
            <a:ext cx="361950" cy="361950"/>
          </a:xfrm>
          <a:prstGeom prst="ellipse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6479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尺寸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2952750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检查单数尺寸、大图阈值、图标标准尺寸等。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723900" y="3390900"/>
            <a:ext cx="361950" cy="361950"/>
          </a:xfrm>
          <a:prstGeom prst="ellipse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33718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警告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38250" y="3676650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找出允许但不推荐的资源，提交前人工确认。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723900" y="4114800"/>
            <a:ext cx="361950" cy="361950"/>
          </a:xfrm>
          <a:prstGeom prst="ellipse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38250" y="40957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重复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38250" y="4400550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开启后辅助发现疑似重复或相似图片。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229350" y="1524000"/>
            <a:ext cx="5143500" cy="39052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l="8333" r="8333"/>
          <a:stretch>
            <a:fillRect/>
          </a:stretch>
        </p:blipFill>
        <p:spPr>
          <a:xfrm>
            <a:off x="6324600" y="1619250"/>
            <a:ext cx="4953000" cy="3714750"/>
          </a:xfrm>
          <a:prstGeom prst="roundRect">
            <a:avLst>
              <a:gd name="adj" fmla="val 2564"/>
            </a:avLst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02</a:t>
            </a:r>
            <a:endParaRPr sz="1200" b="1">
              <a:solidFill>
                <a:srgbClr val="87939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32B"/>
                </a:solidFill>
              </a:defRPr>
            </a:pPr>
            <a:r>
              <a:rPr sz="3300" b="1">
                <a:solidFill>
                  <a:srgbClr val="17232B"/>
                </a:solidFill>
              </a:rPr>
              <a:t>入口和页面结构</a:t>
            </a:r>
            <a:endParaRPr sz="3300" b="1">
              <a:solidFill>
                <a:srgbClr val="17232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B73"/>
                </a:solidFill>
              </a:defRPr>
            </a:pPr>
            <a:r>
              <a:rPr lang="en-US" sz="1500" b="0">
                <a:solidFill>
                  <a:srgbClr val="5E6B73"/>
                </a:solidFill>
              </a:rPr>
              <a:t>UI</a:t>
            </a:r>
            <a:r>
              <a:rPr sz="1500" b="0">
                <a:solidFill>
                  <a:srgbClr val="5E6B73"/>
                </a:solidFill>
              </a:rPr>
              <a:t>用户主要看三个区域：顶部选择检测方式，中间上传文件，下方看结果。</a:t>
            </a:r>
            <a:endParaRPr sz="1500" b="0">
              <a:solidFill>
                <a:srgbClr val="5E6B73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14350" y="1485900"/>
            <a:ext cx="7429500" cy="47244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85913"/>
            <a:ext cx="7239000" cy="4524375"/>
          </a:xfrm>
          <a:prstGeom prst="roundRect">
            <a:avLst>
              <a:gd name="adj" fmla="val 2101"/>
            </a:avLst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8248650" y="2000250"/>
            <a:ext cx="1752600" cy="323850"/>
          </a:xfrm>
          <a:prstGeom prst="roundRect">
            <a:avLst>
              <a:gd name="adj" fmla="val 29412"/>
            </a:avLst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 选择检测模式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267700" y="241935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2B"/>
                </a:solidFill>
              </a:defRPr>
            </a:pPr>
            <a:r>
              <a:rPr sz="1500" b="0">
                <a:solidFill>
                  <a:srgbClr val="17232B"/>
                </a:solidFill>
              </a:rPr>
              <a:t>检测模式、重复检测都在页面顶部。</a:t>
            </a:r>
            <a:endParaRPr sz="1500" b="0">
              <a:solidFill>
                <a:srgbClr val="17232B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248650" y="3409950"/>
            <a:ext cx="1352550" cy="323850"/>
          </a:xfrm>
          <a:prstGeom prst="roundRect">
            <a:avLst>
              <a:gd name="adj" fmla="val 29412"/>
            </a:avLst>
          </a:prstGeom>
          <a:solidFill>
            <a:srgbClr val="E8782E"/>
          </a:solidFill>
          <a:ln w="0">
            <a:solidFill>
              <a:srgbClr val="E8782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 上传资源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267700" y="38290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2B"/>
                </a:solidFill>
              </a:defRPr>
            </a:pPr>
            <a:r>
              <a:rPr lang="zh-CN" sz="1500" b="0">
                <a:solidFill>
                  <a:srgbClr val="17232B"/>
                </a:solidFill>
              </a:rPr>
              <a:t>支持鼠标拖拽</a:t>
            </a:r>
            <a:r>
              <a:rPr sz="1500" b="0">
                <a:solidFill>
                  <a:srgbClr val="17232B"/>
                </a:solidFill>
              </a:rPr>
              <a:t>上传文件夹，也可以补充单张图片。</a:t>
            </a:r>
            <a:endParaRPr sz="1500" b="0">
              <a:solidFill>
                <a:srgbClr val="17232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248650" y="4800600"/>
            <a:ext cx="1352550" cy="323850"/>
          </a:xfrm>
          <a:prstGeom prst="roundRect">
            <a:avLst>
              <a:gd name="adj" fmla="val 29412"/>
            </a:avLst>
          </a:prstGeom>
          <a:solidFill>
            <a:srgbClr val="16A06A"/>
          </a:solidFill>
          <a:ln w="0">
            <a:solidFill>
              <a:srgbClr val="16A06A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 查看结果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67700" y="52197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32B"/>
                </a:solidFill>
              </a:defRPr>
            </a:pPr>
            <a:r>
              <a:rPr sz="1500" b="0">
                <a:solidFill>
                  <a:srgbClr val="17232B"/>
                </a:solidFill>
              </a:rPr>
              <a:t>检测完成后，在下方列表查看问题和警告。</a:t>
            </a:r>
            <a:endParaRPr sz="1500" b="0">
              <a:solidFill>
                <a:srgbClr val="17232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03</a:t>
            </a:r>
            <a:endParaRPr sz="1200" b="1">
              <a:solidFill>
                <a:srgbClr val="87939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3570" y="2000250"/>
            <a:ext cx="7239635" cy="419100"/>
          </a:xfrm>
          <a:prstGeom prst="roundRect">
            <a:avLst>
              <a:gd name="adj" fmla="val 29412"/>
            </a:avLst>
          </a:prstGeom>
          <a:solidFill>
            <a:srgbClr val="0F8790">
              <a:alpha val="17000"/>
            </a:srgbClr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23570" y="2420620"/>
            <a:ext cx="7225665" cy="609600"/>
          </a:xfrm>
          <a:prstGeom prst="roundRect">
            <a:avLst>
              <a:gd name="adj" fmla="val 29412"/>
            </a:avLst>
          </a:prstGeom>
          <a:solidFill>
            <a:srgbClr val="E8782E">
              <a:alpha val="7000"/>
            </a:srgbClr>
          </a:solidFill>
          <a:ln w="0">
            <a:solidFill>
              <a:srgbClr val="E8782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3112135"/>
            <a:ext cx="7252970" cy="3107055"/>
          </a:xfrm>
          <a:prstGeom prst="rect">
            <a:avLst/>
          </a:prstGeom>
          <a:solidFill>
            <a:srgbClr val="16A06A">
              <a:alpha val="13000"/>
            </a:srgbClr>
          </a:solidFill>
          <a:ln w="0">
            <a:solidFill>
              <a:srgbClr val="16A06A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0">
              <a:solidFill>
                <a:schemeClr val="tx1"/>
              </a:solidFill>
            </a:endParaRPr>
          </a:p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0">
              <a:solidFill>
                <a:schemeClr val="tx1"/>
              </a:solidFill>
            </a:endParaRPr>
          </a:p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0">
              <a:solidFill>
                <a:schemeClr val="tx1"/>
              </a:solidFill>
            </a:endParaRPr>
          </a:p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0">
              <a:solidFill>
                <a:schemeClr val="tx1"/>
              </a:solidFill>
            </a:endParaRPr>
          </a:p>
          <a:p>
            <a:pPr algn="ctr">
              <a:defRPr sz="1200" b="1">
                <a:solidFill>
                  <a:srgbClr val="FFFFFF"/>
                </a:solidFill>
              </a:defRPr>
            </a:pPr>
            <a:endParaRPr sz="1200" b="0">
              <a:solidFill>
                <a:schemeClr val="tx1"/>
              </a:solidFill>
            </a:endParaRP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0">
                <a:solidFill>
                  <a:schemeClr val="tx1"/>
                </a:solidFill>
              </a:rPr>
              <a:t>3 查看结果</a:t>
            </a:r>
            <a:endParaRPr sz="12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571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32B"/>
                </a:solidFill>
              </a:defRPr>
            </a:pPr>
            <a:r>
              <a:rPr sz="3300" b="1">
                <a:solidFill>
                  <a:srgbClr val="17232B"/>
                </a:solidFill>
              </a:rPr>
              <a:t>先选检测方式</a:t>
            </a:r>
            <a:endParaRPr sz="3300" b="1">
              <a:solidFill>
                <a:srgbClr val="17232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B73"/>
                </a:solidFill>
              </a:defRPr>
            </a:pPr>
            <a:r>
              <a:rPr sz="1500" b="0">
                <a:solidFill>
                  <a:srgbClr val="5E6B73"/>
                </a:solidFill>
              </a:rPr>
              <a:t>检测前确认检测模式和是否开启重复检测。</a:t>
            </a:r>
            <a:endParaRPr sz="1500" b="0">
              <a:solidFill>
                <a:srgbClr val="5E6B73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619750" y="1219200"/>
            <a:ext cx="5600700" cy="43815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t="2853" b="2853"/>
          <a:stretch>
            <a:fillRect/>
          </a:stretch>
        </p:blipFill>
        <p:spPr>
          <a:xfrm>
            <a:off x="5715000" y="1314450"/>
            <a:ext cx="5410200" cy="4191000"/>
          </a:xfrm>
          <a:prstGeom prst="roundRect">
            <a:avLst>
              <a:gd name="adj" fmla="val 2273"/>
            </a:avLst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23900" y="1809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8790"/>
                </a:solidFill>
              </a:defRPr>
            </a:pPr>
            <a:r>
              <a:rPr sz="1800" b="1">
                <a:solidFill>
                  <a:srgbClr val="0F8790"/>
                </a:solidFill>
              </a:rPr>
              <a:t>NGR切图规范</a:t>
            </a:r>
            <a:endParaRPr sz="1800" b="1">
              <a:solidFill>
                <a:srgbClr val="0F879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1717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3"/>
                </a:solidFill>
              </a:defRPr>
            </a:pPr>
            <a:r>
              <a:rPr sz="1350" b="0">
                <a:solidFill>
                  <a:srgbClr val="5E6B73"/>
                </a:solidFill>
              </a:rPr>
              <a:t>检查 PNG、双数尺寸、大图规则</a:t>
            </a:r>
            <a:endParaRPr sz="1350" b="0">
              <a:solidFill>
                <a:srgbClr val="5E6B7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514600"/>
            <a:ext cx="3905250" cy="19050"/>
          </a:xfrm>
          <a:prstGeom prst="rect">
            <a:avLst/>
          </a:prstGeom>
          <a:solidFill>
            <a:srgbClr val="D7E1E6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590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8790"/>
                </a:solidFill>
              </a:defRPr>
            </a:pPr>
            <a:r>
              <a:rPr sz="1800" b="1">
                <a:solidFill>
                  <a:srgbClr val="0F8790"/>
                </a:solidFill>
              </a:rPr>
              <a:t>策划配置切图规范</a:t>
            </a:r>
            <a:endParaRPr sz="1800" b="1">
              <a:solidFill>
                <a:srgbClr val="0F879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9527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3"/>
                </a:solidFill>
              </a:defRPr>
            </a:pPr>
            <a:r>
              <a:rPr sz="1350" b="0">
                <a:solidFill>
                  <a:srgbClr val="5E6B73"/>
                </a:solidFill>
              </a:rPr>
              <a:t>检查尺寸是否符合配置资源要求</a:t>
            </a:r>
            <a:endParaRPr sz="1350" b="0">
              <a:solidFill>
                <a:srgbClr val="5E6B7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295650"/>
            <a:ext cx="3905250" cy="19050"/>
          </a:xfrm>
          <a:prstGeom prst="rect">
            <a:avLst/>
          </a:prstGeom>
          <a:solidFill>
            <a:srgbClr val="D7E1E6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33718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8790"/>
                </a:solidFill>
              </a:defRPr>
            </a:pPr>
            <a:r>
              <a:rPr sz="1800" b="1">
                <a:solidFill>
                  <a:srgbClr val="0F8790"/>
                </a:solidFill>
              </a:rPr>
              <a:t>图标尺寸检测规范</a:t>
            </a:r>
            <a:endParaRPr sz="1800" b="1">
              <a:solidFill>
                <a:srgbClr val="0F879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7338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3"/>
                </a:solidFill>
              </a:defRPr>
            </a:pPr>
            <a:r>
              <a:rPr sz="1350" b="0">
                <a:solidFill>
                  <a:srgbClr val="5E6B73"/>
                </a:solidFill>
              </a:rPr>
              <a:t>检查正方形和标准图标尺寸</a:t>
            </a:r>
            <a:endParaRPr sz="1350" b="0">
              <a:solidFill>
                <a:srgbClr val="5E6B7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4076700"/>
            <a:ext cx="3905250" cy="19050"/>
          </a:xfrm>
          <a:prstGeom prst="rect">
            <a:avLst/>
          </a:prstGeom>
          <a:solidFill>
            <a:srgbClr val="D7E1E6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41529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782E"/>
                </a:solidFill>
              </a:defRPr>
            </a:pPr>
            <a:r>
              <a:rPr sz="1800" b="1">
                <a:solidFill>
                  <a:srgbClr val="E8782E"/>
                </a:solidFill>
              </a:rPr>
              <a:t>重复检测</a:t>
            </a:r>
            <a:endParaRPr sz="1800" b="1">
              <a:solidFill>
                <a:srgbClr val="E8782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45148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B73"/>
                </a:solidFill>
              </a:defRPr>
            </a:pPr>
            <a:r>
              <a:rPr sz="1350" b="0">
                <a:solidFill>
                  <a:srgbClr val="5E6B73"/>
                </a:solidFill>
              </a:rPr>
              <a:t>关闭最快，低/中/高逐级更敏感</a:t>
            </a:r>
            <a:endParaRPr sz="1350" b="0">
              <a:solidFill>
                <a:srgbClr val="5E6B7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" y="4857750"/>
            <a:ext cx="3905250" cy="19050"/>
          </a:xfrm>
          <a:prstGeom prst="rect">
            <a:avLst/>
          </a:prstGeom>
          <a:solidFill>
            <a:srgbClr val="D7E1E6"/>
          </a:solidFill>
          <a:ln w="0">
            <a:solidFill>
              <a:srgbClr val="D7E1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04</a:t>
            </a:r>
            <a:endParaRPr sz="1200" b="1">
              <a:solidFill>
                <a:srgbClr val="87939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32B"/>
                </a:solidFill>
              </a:defRPr>
            </a:pPr>
            <a:r>
              <a:rPr sz="3300" b="1">
                <a:solidFill>
                  <a:srgbClr val="17232B"/>
                </a:solidFill>
              </a:rPr>
              <a:t>上传后，直接看检测结果</a:t>
            </a:r>
            <a:endParaRPr sz="3300" b="1">
              <a:solidFill>
                <a:srgbClr val="17232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B73"/>
                </a:solidFill>
              </a:defRPr>
            </a:pPr>
            <a:r>
              <a:rPr sz="1500" b="0">
                <a:solidFill>
                  <a:srgbClr val="5E6B73"/>
                </a:solidFill>
              </a:rPr>
              <a:t>列表会显示预览、尺寸、问题提示和警告提示。</a:t>
            </a:r>
            <a:endParaRPr sz="1500" b="0">
              <a:solidFill>
                <a:srgbClr val="5E6B73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14350" y="1466850"/>
            <a:ext cx="7429500" cy="4705350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262" y="1562100"/>
            <a:ext cx="5495675" cy="4514850"/>
          </a:xfrm>
          <a:prstGeom prst="roundRect">
            <a:avLst>
              <a:gd name="adj" fmla="val 2110"/>
            </a:avLst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324850" y="17526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232B"/>
                </a:solidFill>
              </a:defRPr>
            </a:pPr>
            <a:r>
              <a:rPr sz="2100" b="1">
                <a:solidFill>
                  <a:srgbClr val="17232B"/>
                </a:solidFill>
              </a:rPr>
              <a:t>优先看两件事</a:t>
            </a:r>
            <a:endParaRPr sz="2100" b="1">
              <a:solidFill>
                <a:srgbClr val="17232B"/>
              </a:solidFill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8343900" y="2419350"/>
            <a:ext cx="361950" cy="361950"/>
          </a:xfrm>
          <a:prstGeom prst="ellipse">
            <a:avLst/>
          </a:prstGeom>
          <a:solidFill>
            <a:srgbClr val="E8782E"/>
          </a:solidFill>
          <a:ln w="0">
            <a:solidFill>
              <a:srgbClr val="E8782E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858250" y="2400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问题图片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58250" y="2705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通常需要</a:t>
            </a:r>
            <a:r>
              <a:rPr lang="zh-CN" sz="1200" b="0">
                <a:solidFill>
                  <a:srgbClr val="5E6B73"/>
                </a:solidFill>
              </a:rPr>
              <a:t>重新切图</a:t>
            </a:r>
            <a:r>
              <a:rPr sz="1200" b="0">
                <a:solidFill>
                  <a:srgbClr val="5E6B73"/>
                </a:solidFill>
              </a:rPr>
              <a:t>、调整尺寸或改格式。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8343900" y="3143250"/>
            <a:ext cx="361950" cy="361950"/>
          </a:xfrm>
          <a:prstGeom prst="ellipse">
            <a:avLst/>
          </a:prstGeom>
          <a:solidFill>
            <a:srgbClr val="E8782E"/>
          </a:solidFill>
          <a:ln w="0">
            <a:solidFill>
              <a:srgbClr val="E8782E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858250" y="31242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警告图片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58250" y="34290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允许但不推荐，按项目要求决定是否优化。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8343900" y="3867150"/>
            <a:ext cx="361950" cy="361950"/>
          </a:xfrm>
          <a:prstGeom prst="ellipse">
            <a:avLst/>
          </a:prstGeom>
          <a:solidFill>
            <a:srgbClr val="E8782E"/>
          </a:solidFill>
          <a:ln w="0">
            <a:solidFill>
              <a:srgbClr val="E8782E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858250" y="38481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疑似重复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858250" y="41529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只是辅助判断，需要人工对比确认。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05</a:t>
            </a:r>
            <a:endParaRPr sz="1200" b="1">
              <a:solidFill>
                <a:srgbClr val="87939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32B"/>
                </a:solidFill>
              </a:defRPr>
            </a:pPr>
            <a:r>
              <a:rPr sz="3300" b="1">
                <a:solidFill>
                  <a:srgbClr val="17232B"/>
                </a:solidFill>
              </a:rPr>
              <a:t>不懂提示，就先看规范</a:t>
            </a:r>
            <a:endParaRPr sz="3300" b="1">
              <a:solidFill>
                <a:srgbClr val="17232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B73"/>
                </a:solidFill>
              </a:defRPr>
            </a:pPr>
            <a:r>
              <a:rPr sz="1500" b="0">
                <a:solidFill>
                  <a:srgbClr val="5E6B73"/>
                </a:solidFill>
              </a:rPr>
              <a:t>“查看检测规范”会展开当前模式的规则说明，适合解释为什么被标记。</a:t>
            </a:r>
            <a:endParaRPr sz="1500" b="0">
              <a:solidFill>
                <a:srgbClr val="5E6B73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90550" y="1562100"/>
            <a:ext cx="76390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7543" y="1657350"/>
            <a:ext cx="4365064" cy="4286250"/>
          </a:xfrm>
          <a:prstGeom prst="roundRect">
            <a:avLst>
              <a:gd name="adj" fmla="val 2222"/>
            </a:avLst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591550" y="18288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232B"/>
                </a:solidFill>
              </a:defRPr>
            </a:pPr>
            <a:r>
              <a:rPr sz="2100" b="1">
                <a:solidFill>
                  <a:srgbClr val="17232B"/>
                </a:solidFill>
              </a:rPr>
              <a:t>规范里会说明</a:t>
            </a:r>
            <a:endParaRPr sz="2100" b="1">
              <a:solidFill>
                <a:srgbClr val="17232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629650" y="2400300"/>
            <a:ext cx="2857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7232B"/>
                </a:solidFill>
              </a:defRPr>
            </a:pPr>
            <a:r>
              <a:rPr sz="1800" b="0">
                <a:solidFill>
                  <a:srgbClr val="17232B"/>
                </a:solidFill>
              </a:rPr>
              <a:t>PNG 格式要求</a:t>
            </a:r>
            <a:endParaRPr sz="1800" b="0">
              <a:solidFill>
                <a:srgbClr val="17232B"/>
              </a:solidFill>
            </a:endParaRPr>
          </a:p>
          <a:p>
            <a:pPr algn="l">
              <a:defRPr sz="1800" b="0">
                <a:solidFill>
                  <a:srgbClr val="17232B"/>
                </a:solidFill>
              </a:defRPr>
            </a:pPr>
            <a:r>
              <a:rPr sz="1800" b="0">
                <a:solidFill>
                  <a:srgbClr val="17232B"/>
                </a:solidFill>
              </a:rPr>
              <a:t>双数尺寸要求</a:t>
            </a:r>
            <a:endParaRPr sz="1800" b="0">
              <a:solidFill>
                <a:srgbClr val="17232B"/>
              </a:solidFill>
            </a:endParaRPr>
          </a:p>
          <a:p>
            <a:pPr algn="l">
              <a:defRPr sz="1800" b="0">
                <a:solidFill>
                  <a:srgbClr val="17232B"/>
                </a:solidFill>
              </a:defRPr>
            </a:pPr>
            <a:r>
              <a:rPr sz="1800" b="0">
                <a:solidFill>
                  <a:srgbClr val="17232B"/>
                </a:solidFill>
              </a:rPr>
              <a:t>2048 大图警告</a:t>
            </a:r>
            <a:endParaRPr sz="1800" b="0">
              <a:solidFill>
                <a:srgbClr val="17232B"/>
              </a:solidFill>
            </a:endParaRPr>
          </a:p>
          <a:p>
            <a:pPr algn="l">
              <a:defRPr sz="1800" b="0">
                <a:solidFill>
                  <a:srgbClr val="17232B"/>
                </a:solidFill>
              </a:defRPr>
            </a:pPr>
            <a:r>
              <a:rPr sz="1800" b="0">
                <a:solidFill>
                  <a:srgbClr val="17232B"/>
                </a:solidFill>
              </a:rPr>
              <a:t>图标标准尺寸</a:t>
            </a:r>
            <a:endParaRPr sz="1800" b="0">
              <a:solidFill>
                <a:srgbClr val="17232B"/>
              </a:solidFill>
            </a:endParaRPr>
          </a:p>
          <a:p>
            <a:pPr algn="l">
              <a:defRPr sz="1800" b="0">
                <a:solidFill>
                  <a:srgbClr val="17232B"/>
                </a:solidFill>
              </a:defRPr>
            </a:pPr>
            <a:r>
              <a:rPr sz="1800" b="0">
                <a:solidFill>
                  <a:srgbClr val="17232B"/>
                </a:solidFill>
              </a:rPr>
              <a:t>重复资源判断方式</a:t>
            </a:r>
            <a:endParaRPr sz="1800" b="0">
              <a:solidFill>
                <a:srgbClr val="17232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06</a:t>
            </a:r>
            <a:endParaRPr sz="1200" b="1">
              <a:solidFill>
                <a:srgbClr val="87939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32B"/>
                </a:solidFill>
              </a:defRPr>
            </a:pPr>
            <a:r>
              <a:rPr sz="3300" b="1">
                <a:solidFill>
                  <a:srgbClr val="17232B"/>
                </a:solidFill>
              </a:rPr>
              <a:t>用筛选按钮集中处理</a:t>
            </a:r>
            <a:endParaRPr sz="3300" b="1">
              <a:solidFill>
                <a:srgbClr val="17232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B73"/>
                </a:solidFill>
              </a:defRPr>
            </a:pPr>
            <a:r>
              <a:rPr sz="1500" b="0">
                <a:solidFill>
                  <a:srgbClr val="5E6B73"/>
                </a:solidFill>
              </a:rPr>
              <a:t>先看问题，再看警告，处理顺序会更清楚。</a:t>
            </a:r>
            <a:endParaRPr sz="1500" b="0">
              <a:solidFill>
                <a:srgbClr val="5E6B73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95300" y="1581150"/>
            <a:ext cx="5410200" cy="3981450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t="13018" b="13018"/>
          <a:stretch>
            <a:fillRect/>
          </a:stretch>
        </p:blipFill>
        <p:spPr>
          <a:xfrm>
            <a:off x="590550" y="1676400"/>
            <a:ext cx="5219700" cy="3790950"/>
          </a:xfrm>
          <a:prstGeom prst="roundRect">
            <a:avLst>
              <a:gd name="adj" fmla="val 2513"/>
            </a:avLst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6343650" y="1581150"/>
            <a:ext cx="5410200" cy="3981450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t="2332" b="2332"/>
          <a:stretch>
            <a:fillRect/>
          </a:stretch>
        </p:blipFill>
        <p:spPr>
          <a:xfrm>
            <a:off x="6438900" y="1676400"/>
            <a:ext cx="5219700" cy="3790950"/>
          </a:xfrm>
          <a:prstGeom prst="roundRect">
            <a:avLst>
              <a:gd name="adj" fmla="val 2513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2152650" y="5695950"/>
            <a:ext cx="1562100" cy="323850"/>
          </a:xfrm>
          <a:prstGeom prst="roundRect">
            <a:avLst>
              <a:gd name="adj" fmla="val 29412"/>
            </a:avLst>
          </a:prstGeom>
          <a:solidFill>
            <a:srgbClr val="E8782E"/>
          </a:solidFill>
          <a:ln w="0">
            <a:solidFill>
              <a:srgbClr val="E8782E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只看问题图片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001000" y="5695950"/>
            <a:ext cx="1562100" cy="323850"/>
          </a:xfrm>
          <a:prstGeom prst="roundRect">
            <a:avLst>
              <a:gd name="adj" fmla="val 29412"/>
            </a:avLst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只看警告图片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07</a:t>
            </a:r>
            <a:endParaRPr sz="1200" b="1">
              <a:solidFill>
                <a:srgbClr val="87939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32B"/>
                </a:solidFill>
              </a:defRPr>
            </a:pPr>
            <a:r>
              <a:rPr sz="3300" b="1">
                <a:solidFill>
                  <a:srgbClr val="17232B"/>
                </a:solidFill>
              </a:rPr>
              <a:t>常见提示怎么处理</a:t>
            </a:r>
            <a:endParaRPr sz="3300" b="1">
              <a:solidFill>
                <a:srgbClr val="17232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B73"/>
                </a:solidFill>
              </a:defRPr>
            </a:pPr>
            <a:r>
              <a:rPr sz="1500" b="0">
                <a:solidFill>
                  <a:srgbClr val="5E6B73"/>
                </a:solidFill>
              </a:rPr>
              <a:t>检测提示是辅助判断，最终以项目规范和负责人要求为准。</a:t>
            </a:r>
            <a:endParaRPr sz="1500" b="0">
              <a:solidFill>
                <a:srgbClr val="5E6B7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695450"/>
            <a:ext cx="9810750" cy="533400"/>
          </a:xfrm>
          <a:prstGeom prst="rect">
            <a:avLst/>
          </a:prstGeom>
          <a:solidFill>
            <a:srgbClr val="F1F5F7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17907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32B"/>
                </a:solidFill>
              </a:defRPr>
            </a:pPr>
            <a:r>
              <a:rPr sz="1800" b="1">
                <a:solidFill>
                  <a:srgbClr val="17232B"/>
                </a:solidFill>
              </a:rPr>
              <a:t>非 PNG 格式</a:t>
            </a:r>
            <a:endParaRPr sz="1800" b="1">
              <a:solidFill>
                <a:srgbClr val="17232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457700" y="18097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E6B73"/>
                </a:solidFill>
              </a:defRPr>
            </a:pPr>
            <a:r>
              <a:rPr sz="1650" b="0">
                <a:solidFill>
                  <a:srgbClr val="5E6B73"/>
                </a:solidFill>
              </a:rPr>
              <a:t>重新导出为 PNG</a:t>
            </a:r>
            <a:endParaRPr sz="1650" b="0">
              <a:solidFill>
                <a:srgbClr val="5E6B7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381250"/>
            <a:ext cx="9810750" cy="533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4765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32B"/>
                </a:solidFill>
              </a:defRPr>
            </a:pPr>
            <a:r>
              <a:rPr sz="1800" b="1">
                <a:solidFill>
                  <a:srgbClr val="17232B"/>
                </a:solidFill>
              </a:rPr>
              <a:t>分辨率不是双数</a:t>
            </a:r>
            <a:endParaRPr sz="1800" b="1">
              <a:solidFill>
                <a:srgbClr val="1723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57700" y="24955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E6B73"/>
                </a:solidFill>
              </a:defRPr>
            </a:pPr>
            <a:r>
              <a:rPr sz="1650" b="0">
                <a:solidFill>
                  <a:srgbClr val="5E6B73"/>
                </a:solidFill>
              </a:rPr>
              <a:t>调整宽高，避免单数</a:t>
            </a:r>
            <a:endParaRPr sz="1650" b="0">
              <a:solidFill>
                <a:srgbClr val="5E6B7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3067050"/>
            <a:ext cx="9810750" cy="533400"/>
          </a:xfrm>
          <a:prstGeom prst="rect">
            <a:avLst/>
          </a:prstGeom>
          <a:solidFill>
            <a:srgbClr val="F1F5F7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3162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32B"/>
                </a:solidFill>
              </a:defRPr>
            </a:pPr>
            <a:r>
              <a:rPr sz="1800" b="1">
                <a:solidFill>
                  <a:srgbClr val="17232B"/>
                </a:solidFill>
              </a:rPr>
              <a:t>单边超过上限</a:t>
            </a:r>
            <a:endParaRPr sz="1800" b="1">
              <a:solidFill>
                <a:srgbClr val="17232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57700" y="31813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E6B73"/>
                </a:solidFill>
              </a:defRPr>
            </a:pPr>
            <a:r>
              <a:rPr sz="1650" b="0">
                <a:solidFill>
                  <a:srgbClr val="5E6B73"/>
                </a:solidFill>
              </a:rPr>
              <a:t>拆分图片或重新切图</a:t>
            </a:r>
            <a:endParaRPr sz="1650" b="0">
              <a:solidFill>
                <a:srgbClr val="5E6B7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3752850"/>
            <a:ext cx="9810750" cy="533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38481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782E"/>
                </a:solidFill>
              </a:defRPr>
            </a:pPr>
            <a:r>
              <a:rPr sz="1800" b="1">
                <a:solidFill>
                  <a:srgbClr val="E8782E"/>
                </a:solidFill>
              </a:rPr>
              <a:t>黄色警告</a:t>
            </a:r>
            <a:endParaRPr sz="1800" b="1">
              <a:solidFill>
                <a:srgbClr val="E8782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57700" y="38671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E6B73"/>
                </a:solidFill>
              </a:defRPr>
            </a:pPr>
            <a:r>
              <a:rPr sz="1650" b="0">
                <a:solidFill>
                  <a:srgbClr val="5E6B73"/>
                </a:solidFill>
              </a:rPr>
              <a:t>允许但不推荐，按要求优化</a:t>
            </a:r>
            <a:endParaRPr sz="1650" b="0">
              <a:solidFill>
                <a:srgbClr val="5E6B7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2950" y="4438650"/>
            <a:ext cx="9810750" cy="533400"/>
          </a:xfrm>
          <a:prstGeom prst="rect">
            <a:avLst/>
          </a:prstGeom>
          <a:solidFill>
            <a:srgbClr val="F1F5F7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90600" y="45339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32B"/>
                </a:solidFill>
              </a:defRPr>
            </a:pPr>
            <a:r>
              <a:rPr sz="1800" b="1">
                <a:solidFill>
                  <a:srgbClr val="17232B"/>
                </a:solidFill>
              </a:rPr>
              <a:t>疑似重复资源</a:t>
            </a:r>
            <a:endParaRPr sz="1800" b="1">
              <a:solidFill>
                <a:srgbClr val="17232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57700" y="45529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E6B73"/>
                </a:solidFill>
              </a:defRPr>
            </a:pPr>
            <a:r>
              <a:rPr sz="1650" b="0">
                <a:solidFill>
                  <a:srgbClr val="5E6B73"/>
                </a:solidFill>
              </a:rPr>
              <a:t>人工对比，确认是否保留</a:t>
            </a:r>
            <a:endParaRPr sz="1650" b="0">
              <a:solidFill>
                <a:srgbClr val="5E6B7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08</a:t>
            </a:r>
            <a:endParaRPr sz="1200" b="1">
              <a:solidFill>
                <a:srgbClr val="87939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32B"/>
                </a:solidFill>
              </a:defRPr>
            </a:pPr>
            <a:r>
              <a:rPr sz="3300" b="1">
                <a:solidFill>
                  <a:srgbClr val="17232B"/>
                </a:solidFill>
              </a:rPr>
              <a:t>推荐操作流程</a:t>
            </a:r>
            <a:endParaRPr sz="3300" b="1">
              <a:solidFill>
                <a:srgbClr val="17232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B73"/>
                </a:solidFill>
              </a:defRPr>
            </a:pPr>
            <a:r>
              <a:rPr sz="1500" b="0">
                <a:solidFill>
                  <a:srgbClr val="5E6B73"/>
                </a:solidFill>
              </a:rPr>
              <a:t>按这个顺序操作，普通用户基本不会漏步骤。</a:t>
            </a:r>
            <a:endParaRPr sz="1500" b="0">
              <a:solidFill>
                <a:srgbClr val="5E6B73"/>
              </a:solidFill>
            </a:endParaRPr>
          </a:p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838200" y="1809750"/>
            <a:ext cx="361950" cy="361950"/>
          </a:xfrm>
          <a:prstGeom prst="ellipse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52550" y="17907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进入 UI切图检测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52550" y="2095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从主界面点击检测入口。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838200" y="2533650"/>
            <a:ext cx="361950" cy="361950"/>
          </a:xfrm>
          <a:prstGeom prst="ellipse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52550" y="25146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选择检测模式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52550" y="28194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确认项目组、模式和重复检测。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838200" y="3257550"/>
            <a:ext cx="361950" cy="361950"/>
          </a:xfrm>
          <a:prstGeom prst="ellipse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3238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上传资源文件夹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52550" y="35433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等待检测结果生成。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838200" y="3981450"/>
            <a:ext cx="361950" cy="361950"/>
          </a:xfrm>
          <a:prstGeom prst="ellipse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52550" y="39624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筛选问题和警告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52550" y="42672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记录需要修改的图片。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838200" y="4705350"/>
            <a:ext cx="361950" cy="361950"/>
          </a:xfrm>
          <a:prstGeom prst="ellipse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52550" y="46863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清空后继续下一批</a:t>
            </a:r>
            <a:endParaRPr sz="1725" b="1">
              <a:solidFill>
                <a:srgbClr val="17232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52550" y="49911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B73"/>
                </a:solidFill>
              </a:defRPr>
            </a:pPr>
            <a:r>
              <a:rPr sz="1200" b="0">
                <a:solidFill>
                  <a:srgbClr val="5E6B73"/>
                </a:solidFill>
              </a:rPr>
              <a:t>清空列表不会删除本地原图。</a:t>
            </a:r>
            <a:endParaRPr sz="1200" b="0">
              <a:solidFill>
                <a:srgbClr val="5E6B73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648450" y="1562100"/>
            <a:ext cx="4495800" cy="39243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D7E1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l="6080" r="6080"/>
          <a:stretch>
            <a:fillRect/>
          </a:stretch>
        </p:blipFill>
        <p:spPr>
          <a:xfrm>
            <a:off x="6743700" y="1657350"/>
            <a:ext cx="4305300" cy="3733800"/>
          </a:xfrm>
          <a:prstGeom prst="roundRect">
            <a:avLst>
              <a:gd name="adj" fmla="val 2551"/>
            </a:avLst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09</a:t>
            </a:r>
            <a:endParaRPr sz="1200" b="1">
              <a:solidFill>
                <a:srgbClr val="87939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953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7232B"/>
                </a:solidFill>
              </a:defRPr>
            </a:pPr>
            <a:r>
              <a:rPr sz="3300" b="1">
                <a:solidFill>
                  <a:srgbClr val="17232B"/>
                </a:solidFill>
              </a:rPr>
              <a:t>交付前检查清单</a:t>
            </a:r>
            <a:endParaRPr sz="3300" b="1">
              <a:solidFill>
                <a:srgbClr val="17232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1049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B73"/>
                </a:solidFill>
              </a:defRPr>
            </a:pPr>
            <a:r>
              <a:rPr sz="1500" b="0">
                <a:solidFill>
                  <a:srgbClr val="5E6B73"/>
                </a:solidFill>
              </a:rPr>
              <a:t>检测不会修改图片，只帮你提前发现风险。</a:t>
            </a:r>
            <a:endParaRPr sz="1500" b="0">
              <a:solidFill>
                <a:srgbClr val="5E6B73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933450" y="2533650"/>
            <a:ext cx="285750" cy="285750"/>
          </a:xfrm>
          <a:prstGeom prst="ellipse">
            <a:avLst/>
          </a:prstGeom>
          <a:solidFill>
            <a:srgbClr val="16A06A"/>
          </a:solidFill>
          <a:ln w="0">
            <a:solidFill>
              <a:srgbClr val="16A06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81075" y="25146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28750" y="24955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17232B"/>
                </a:solidFill>
              </a:defRPr>
            </a:pPr>
            <a:r>
              <a:rPr sz="2025" b="0">
                <a:solidFill>
                  <a:srgbClr val="17232B"/>
                </a:solidFill>
              </a:rPr>
              <a:t>检测模式是否符合当前资源类型？</a:t>
            </a:r>
            <a:endParaRPr sz="2025" b="0">
              <a:solidFill>
                <a:srgbClr val="17232B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33450" y="3219450"/>
            <a:ext cx="285750" cy="285750"/>
          </a:xfrm>
          <a:prstGeom prst="ellipse">
            <a:avLst/>
          </a:prstGeom>
          <a:solidFill>
            <a:srgbClr val="16A06A"/>
          </a:solidFill>
          <a:ln w="0">
            <a:solidFill>
              <a:srgbClr val="16A06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81075" y="32004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28750" y="31813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17232B"/>
                </a:solidFill>
              </a:defRPr>
            </a:pPr>
            <a:r>
              <a:rPr sz="2025" b="0">
                <a:solidFill>
                  <a:srgbClr val="17232B"/>
                </a:solidFill>
              </a:rPr>
              <a:t>问题图片是否已经全部处理？</a:t>
            </a:r>
            <a:endParaRPr sz="2025" b="0">
              <a:solidFill>
                <a:srgbClr val="17232B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933450" y="3905250"/>
            <a:ext cx="285750" cy="285750"/>
          </a:xfrm>
          <a:prstGeom prst="ellipse">
            <a:avLst/>
          </a:prstGeom>
          <a:solidFill>
            <a:srgbClr val="16A06A"/>
          </a:solidFill>
          <a:ln w="0">
            <a:solidFill>
              <a:srgbClr val="16A06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81075" y="38862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28750" y="38671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17232B"/>
                </a:solidFill>
              </a:defRPr>
            </a:pPr>
            <a:r>
              <a:rPr sz="2025" b="0">
                <a:solidFill>
                  <a:srgbClr val="17232B"/>
                </a:solidFill>
              </a:rPr>
              <a:t>警告图片是否已经确认可以提交？</a:t>
            </a:r>
            <a:endParaRPr sz="2025" b="0">
              <a:solidFill>
                <a:srgbClr val="17232B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933450" y="4591050"/>
            <a:ext cx="285750" cy="285750"/>
          </a:xfrm>
          <a:prstGeom prst="ellipse">
            <a:avLst/>
          </a:prstGeom>
          <a:solidFill>
            <a:srgbClr val="16A06A"/>
          </a:solidFill>
          <a:ln w="0">
            <a:solidFill>
              <a:srgbClr val="16A06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81075" y="4572000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5529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17232B"/>
                </a:solidFill>
              </a:defRPr>
            </a:pPr>
            <a:r>
              <a:rPr sz="2025" b="0">
                <a:solidFill>
                  <a:srgbClr val="17232B"/>
                </a:solidFill>
              </a:rPr>
              <a:t>疑似重复资源是否人工对比过？</a:t>
            </a:r>
            <a:endParaRPr sz="2025" b="0">
              <a:solidFill>
                <a:srgbClr val="17232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3450" y="5657850"/>
            <a:ext cx="6477000" cy="19050"/>
          </a:xfrm>
          <a:prstGeom prst="rect">
            <a:avLst/>
          </a:prstGeom>
          <a:solidFill>
            <a:srgbClr val="0F8790"/>
          </a:solidFill>
          <a:ln w="0">
            <a:solidFill>
              <a:srgbClr val="0F879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33450" y="58483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8790"/>
                </a:solidFill>
              </a:defRPr>
            </a:pPr>
            <a:r>
              <a:rPr sz="1800" b="1">
                <a:solidFill>
                  <a:srgbClr val="0F8790"/>
                </a:solidFill>
              </a:rPr>
              <a:t>完成检查后，再提交资源。</a:t>
            </a:r>
            <a:endParaRPr sz="1800" b="1">
              <a:solidFill>
                <a:srgbClr val="0F879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64579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7939B"/>
                </a:solidFill>
              </a:defRPr>
            </a:pPr>
            <a:r>
              <a:rPr sz="975" b="0">
                <a:solidFill>
                  <a:srgbClr val="87939B"/>
                </a:solidFill>
              </a:rPr>
              <a:t>NGRAI辅助UI切图命名工具 · UI切图检测</a:t>
            </a:r>
            <a:endParaRPr sz="975" b="0">
              <a:solidFill>
                <a:srgbClr val="87939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049000" y="64198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7939B"/>
                </a:solidFill>
              </a:defRPr>
            </a:pPr>
            <a:r>
              <a:rPr sz="1200" b="1">
                <a:solidFill>
                  <a:srgbClr val="87939B"/>
                </a:solidFill>
              </a:rPr>
              <a:t>10</a:t>
            </a:r>
            <a:endParaRPr sz="1200" b="1">
              <a:solidFill>
                <a:srgbClr val="87939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</Words>
  <Application>WPS 文字</Application>
  <PresentationFormat>Converted Presentation</PresentationFormat>
  <Paragraphs>243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儷宋 Pro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五成</cp:lastModifiedBy>
  <cp:revision>6</cp:revision>
  <dcterms:created xsi:type="dcterms:W3CDTF">2026-06-29T05:58:30Z</dcterms:created>
  <dcterms:modified xsi:type="dcterms:W3CDTF">2026-06-29T05:58:30Z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987276FCF6BA15BB2003426AF5ED292F_42</vt:lpwstr>
  </property>
  <property fmtid="{D5CDD505-2E9C-101B-9397-08002B2CF9AE}" pid="3" name="KSOProductBuildVer">
    <vt:lpwstr>2052-12.1.26016.26016</vt:lpwstr>
  </property>
</Properties>
</file>